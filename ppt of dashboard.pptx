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78CE"/>
    <a:srgbClr val="D6BBEB"/>
    <a:srgbClr val="A897D9"/>
    <a:srgbClr val="E2CF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 KUMARI" userId="c74f1b4abf89f17a" providerId="LiveId" clId="{E53D1CF6-BF57-47F8-B561-3205F493CEAA}"/>
    <pc:docChg chg="custSel modSld sldOrd">
      <pc:chgData name="NISHA KUMARI" userId="c74f1b4abf89f17a" providerId="LiveId" clId="{E53D1CF6-BF57-47F8-B561-3205F493CEAA}" dt="2026-08-20T09:42:47.805" v="166" actId="207"/>
      <pc:docMkLst>
        <pc:docMk/>
      </pc:docMkLst>
      <pc:sldChg chg="addSp modSp mod setBg">
        <pc:chgData name="NISHA KUMARI" userId="c74f1b4abf89f17a" providerId="LiveId" clId="{E53D1CF6-BF57-47F8-B561-3205F493CEAA}" dt="2026-08-04T05:48:43.774" v="129" actId="1076"/>
        <pc:sldMkLst>
          <pc:docMk/>
          <pc:sldMk cId="0" sldId="256"/>
        </pc:sldMkLst>
        <pc:spChg chg="mod">
          <ac:chgData name="NISHA KUMARI" userId="c74f1b4abf89f17a" providerId="LiveId" clId="{E53D1CF6-BF57-47F8-B561-3205F493CEAA}" dt="2026-08-02T09:55:08.226" v="127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50:24.094" v="10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50:32.140" v="10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48:24.030" v="94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49:43.369" v="99" actId="207"/>
          <ac:spMkLst>
            <pc:docMk/>
            <pc:sldMk cId="0" sldId="256"/>
            <ac:spMk id="10" creationId="{B293E08D-FA64-D6FD-BD1E-05087841F100}"/>
          </ac:spMkLst>
        </pc:spChg>
        <pc:spChg chg="mod">
          <ac:chgData name="NISHA KUMARI" userId="c74f1b4abf89f17a" providerId="LiveId" clId="{E53D1CF6-BF57-47F8-B561-3205F493CEAA}" dt="2026-08-02T09:50:51.017" v="106" actId="1076"/>
          <ac:spMkLst>
            <pc:docMk/>
            <pc:sldMk cId="0" sldId="256"/>
            <ac:spMk id="12" creationId="{1EDD578C-5C31-182A-41B6-23B06C23BC09}"/>
          </ac:spMkLst>
        </pc:spChg>
        <pc:picChg chg="add mod">
          <ac:chgData name="NISHA KUMARI" userId="c74f1b4abf89f17a" providerId="LiveId" clId="{E53D1CF6-BF57-47F8-B561-3205F493CEAA}" dt="2026-08-04T05:48:43.774" v="129" actId="1076"/>
          <ac:picMkLst>
            <pc:docMk/>
            <pc:sldMk cId="0" sldId="256"/>
            <ac:picMk id="2" creationId="{7CC3E50B-E8AF-674F-1384-62741B98390D}"/>
          </ac:picMkLst>
        </pc:picChg>
      </pc:sldChg>
      <pc:sldChg chg="modSp mod">
        <pc:chgData name="NISHA KUMARI" userId="c74f1b4abf89f17a" providerId="LiveId" clId="{E53D1CF6-BF57-47F8-B561-3205F493CEAA}" dt="2026-08-02T09:30:52.187" v="74" actId="1076"/>
        <pc:sldMkLst>
          <pc:docMk/>
          <pc:sldMk cId="0" sldId="257"/>
        </pc:sldMkLst>
        <pc:spChg chg="mod">
          <ac:chgData name="NISHA KUMARI" userId="c74f1b4abf89f17a" providerId="LiveId" clId="{E53D1CF6-BF57-47F8-B561-3205F493CEAA}" dt="2026-08-02T09:30:52.187" v="74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ISHA KUMARI" userId="c74f1b4abf89f17a" providerId="LiveId" clId="{E53D1CF6-BF57-47F8-B561-3205F493CEAA}" dt="2026-08-02T09:31:07.736" v="75" actId="1076"/>
        <pc:sldMkLst>
          <pc:docMk/>
          <pc:sldMk cId="0" sldId="258"/>
        </pc:sldMkLst>
        <pc:spChg chg="mod">
          <ac:chgData name="NISHA KUMARI" userId="c74f1b4abf89f17a" providerId="LiveId" clId="{E53D1CF6-BF57-47F8-B561-3205F493CEAA}" dt="2026-08-02T09:31:07.736" v="75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NISHA KUMARI" userId="c74f1b4abf89f17a" providerId="LiveId" clId="{E53D1CF6-BF57-47F8-B561-3205F493CEAA}" dt="2026-08-02T09:31:18.937" v="76" actId="1076"/>
        <pc:sldMkLst>
          <pc:docMk/>
          <pc:sldMk cId="0" sldId="259"/>
        </pc:sldMkLst>
        <pc:spChg chg="mod">
          <ac:chgData name="NISHA KUMARI" userId="c74f1b4abf89f17a" providerId="LiveId" clId="{E53D1CF6-BF57-47F8-B561-3205F493CEAA}" dt="2026-08-02T09:31:18.937" v="76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ord">
        <pc:chgData name="NISHA KUMARI" userId="c74f1b4abf89f17a" providerId="LiveId" clId="{E53D1CF6-BF57-47F8-B561-3205F493CEAA}" dt="2026-08-04T09:33:30.969" v="163"/>
        <pc:sldMkLst>
          <pc:docMk/>
          <pc:sldMk cId="0" sldId="261"/>
        </pc:sldMkLst>
        <pc:picChg chg="add mod">
          <ac:chgData name="NISHA KUMARI" userId="c74f1b4abf89f17a" providerId="LiveId" clId="{E53D1CF6-BF57-47F8-B561-3205F493CEAA}" dt="2026-08-02T09:30:05.682" v="73" actId="14100"/>
          <ac:picMkLst>
            <pc:docMk/>
            <pc:sldMk cId="0" sldId="261"/>
            <ac:picMk id="20" creationId="{7C94C2B3-235C-EA7C-40A1-E57BC558B0D7}"/>
          </ac:picMkLst>
        </pc:picChg>
        <pc:picChg chg="add mod">
          <ac:chgData name="NISHA KUMARI" userId="c74f1b4abf89f17a" providerId="LiveId" clId="{E53D1CF6-BF57-47F8-B561-3205F493CEAA}" dt="2026-08-02T09:29:05.066" v="65" actId="14100"/>
          <ac:picMkLst>
            <pc:docMk/>
            <pc:sldMk cId="0" sldId="261"/>
            <ac:picMk id="22" creationId="{BE96129F-CC95-8D5F-102B-C903928CE251}"/>
          </ac:picMkLst>
        </pc:picChg>
        <pc:picChg chg="add mod">
          <ac:chgData name="NISHA KUMARI" userId="c74f1b4abf89f17a" providerId="LiveId" clId="{E53D1CF6-BF57-47F8-B561-3205F493CEAA}" dt="2026-08-02T09:30:00.227" v="72" actId="14100"/>
          <ac:picMkLst>
            <pc:docMk/>
            <pc:sldMk cId="0" sldId="261"/>
            <ac:picMk id="24" creationId="{B69C6157-D284-3188-C6B3-8FFBAD16A7A8}"/>
          </ac:picMkLst>
        </pc:picChg>
      </pc:sldChg>
      <pc:sldChg chg="addSp delSp modSp mod">
        <pc:chgData name="NISHA KUMARI" userId="c74f1b4abf89f17a" providerId="LiveId" clId="{E53D1CF6-BF57-47F8-B561-3205F493CEAA}" dt="2026-08-02T09:26:36.008" v="50" actId="14100"/>
        <pc:sldMkLst>
          <pc:docMk/>
          <pc:sldMk cId="0" sldId="262"/>
        </pc:sldMkLst>
        <pc:picChg chg="add mod">
          <ac:chgData name="NISHA KUMARI" userId="c74f1b4abf89f17a" providerId="LiveId" clId="{E53D1CF6-BF57-47F8-B561-3205F493CEAA}" dt="2026-08-02T09:24:31.474" v="37" actId="14100"/>
          <ac:picMkLst>
            <pc:docMk/>
            <pc:sldMk cId="0" sldId="262"/>
            <ac:picMk id="15" creationId="{C5A19F4E-8F71-161B-F378-6BB817ADB594}"/>
          </ac:picMkLst>
        </pc:picChg>
        <pc:picChg chg="add mod">
          <ac:chgData name="NISHA KUMARI" userId="c74f1b4abf89f17a" providerId="LiveId" clId="{E53D1CF6-BF57-47F8-B561-3205F493CEAA}" dt="2026-08-02T09:26:36.008" v="50" actId="14100"/>
          <ac:picMkLst>
            <pc:docMk/>
            <pc:sldMk cId="0" sldId="262"/>
            <ac:picMk id="19" creationId="{A62469E9-8D2D-6011-F053-C4DE773C1A78}"/>
          </ac:picMkLst>
        </pc:picChg>
      </pc:sldChg>
      <pc:sldChg chg="addSp delSp modSp mod">
        <pc:chgData name="NISHA KUMARI" userId="c74f1b4abf89f17a" providerId="LiveId" clId="{E53D1CF6-BF57-47F8-B561-3205F493CEAA}" dt="2026-08-02T09:23:27.040" v="29" actId="14100"/>
        <pc:sldMkLst>
          <pc:docMk/>
          <pc:sldMk cId="0" sldId="263"/>
        </pc:sldMkLst>
        <pc:picChg chg="add mod">
          <ac:chgData name="NISHA KUMARI" userId="c74f1b4abf89f17a" providerId="LiveId" clId="{E53D1CF6-BF57-47F8-B561-3205F493CEAA}" dt="2026-08-02T09:23:27.040" v="29" actId="14100"/>
          <ac:picMkLst>
            <pc:docMk/>
            <pc:sldMk cId="0" sldId="263"/>
            <ac:picMk id="15" creationId="{40B38722-1BEF-08C3-3E8E-3974983079BC}"/>
          </ac:picMkLst>
        </pc:picChg>
      </pc:sldChg>
      <pc:sldChg chg="modSp mod">
        <pc:chgData name="NISHA KUMARI" userId="c74f1b4abf89f17a" providerId="LiveId" clId="{E53D1CF6-BF57-47F8-B561-3205F493CEAA}" dt="2026-08-04T09:33:25.741" v="161" actId="20577"/>
        <pc:sldMkLst>
          <pc:docMk/>
          <pc:sldMk cId="0" sldId="264"/>
        </pc:sldMkLst>
        <pc:spChg chg="mod">
          <ac:chgData name="NISHA KUMARI" userId="c74f1b4abf89f17a" providerId="LiveId" clId="{E53D1CF6-BF57-47F8-B561-3205F493CEAA}" dt="2026-08-04T09:33:25.741" v="161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31:42.250" v="77" actId="1076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 setBg">
        <pc:chgData name="NISHA KUMARI" userId="c74f1b4abf89f17a" providerId="LiveId" clId="{E53D1CF6-BF57-47F8-B561-3205F493CEAA}" dt="2026-08-20T09:42:47.805" v="166" actId="207"/>
        <pc:sldMkLst>
          <pc:docMk/>
          <pc:sldMk cId="0" sldId="265"/>
        </pc:sldMkLst>
        <pc:spChg chg="mod">
          <ac:chgData name="NISHA KUMARI" userId="c74f1b4abf89f17a" providerId="LiveId" clId="{E53D1CF6-BF57-47F8-B561-3205F493CEAA}" dt="2026-08-20T09:42:22.315" v="164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NISHA KUMARI" userId="c74f1b4abf89f17a" providerId="LiveId" clId="{E53D1CF6-BF57-47F8-B561-3205F493CEAA}" dt="2026-08-20T09:42:25.823" v="165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53:51.519" v="124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NISHA KUMARI" userId="c74f1b4abf89f17a" providerId="LiveId" clId="{E53D1CF6-BF57-47F8-B561-3205F493CEAA}" dt="2026-08-02T09:54:08.656" v="125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NISHA KUMARI" userId="c74f1b4abf89f17a" providerId="LiveId" clId="{E53D1CF6-BF57-47F8-B561-3205F493CEAA}" dt="2026-08-20T09:42:47.805" v="166" actId="207"/>
          <ac:spMkLst>
            <pc:docMk/>
            <pc:sldMk cId="0" sldId="265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3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9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19069" y="189547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6274" y="22402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773805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walkthrough — revenue, customers, products, and delivery performance, 2017–2018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project walkthrough  |  Power Query · Data Modeling · DAX · Visualization</a:t>
            </a:r>
            <a:endParaRPr lang="en-US" sz="110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B293E08D-FA64-D6FD-BD1E-05087841F100}"/>
              </a:ext>
            </a:extLst>
          </p:cNvPr>
          <p:cNvSpPr/>
          <p:nvPr/>
        </p:nvSpPr>
        <p:spPr>
          <a:xfrm>
            <a:off x="9106894" y="0"/>
            <a:ext cx="3108960" cy="3108960"/>
          </a:xfrm>
          <a:prstGeom prst="ellipse">
            <a:avLst/>
          </a:prstGeom>
          <a:solidFill>
            <a:srgbClr val="E2CFF1"/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1EDD578C-5C31-182A-41B6-23B06C23BC09}"/>
              </a:ext>
            </a:extLst>
          </p:cNvPr>
          <p:cNvSpPr/>
          <p:nvPr/>
        </p:nvSpPr>
        <p:spPr>
          <a:xfrm>
            <a:off x="9736554" y="688718"/>
            <a:ext cx="1849640" cy="1731523"/>
          </a:xfrm>
          <a:prstGeom prst="ellipse">
            <a:avLst/>
          </a:prstGeom>
          <a:solidFill>
            <a:srgbClr val="8F78CE"/>
          </a:solidFill>
          <a:ln/>
        </p:spPr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7CC3E50B-E8AF-674F-1384-62741B9839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3276" y="840105"/>
            <a:ext cx="2636196" cy="22688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Power BI dashboard analyzing Olist's e-commerce performance — covering revenue, customers, products, and delivery — fully filterable in real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640080" cy="640080"/>
          </a:xfrm>
          <a:prstGeom prst="ellipse">
            <a:avLst/>
          </a:prstGeom>
          <a:solidFill>
            <a:srgbClr val="E6E1F7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697480"/>
            <a:ext cx="274320" cy="274320"/>
          </a:xfrm>
          <a:prstGeom prst="ellipse">
            <a:avLst/>
          </a:prstGeom>
          <a:solidFill>
            <a:srgbClr val="9B8FD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ops leaders who need a fast, no-query view of business health.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514600"/>
            <a:ext cx="640080" cy="640080"/>
          </a:xfrm>
          <a:prstGeom prst="ellipse">
            <a:avLst/>
          </a:prstGeom>
          <a:solidFill>
            <a:srgbClr val="D7F3E8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2697480"/>
            <a:ext cx="274320" cy="274320"/>
          </a:xfrm>
          <a:prstGeom prst="ellipse">
            <a:avLst/>
          </a:prstGeom>
          <a:solidFill>
            <a:srgbClr val="4FC79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answers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revenue come from? Who are our best customers? Are deliveries on time?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514600"/>
            <a:ext cx="640080" cy="640080"/>
          </a:xfrm>
          <a:prstGeom prst="ellipse">
            <a:avLst/>
          </a:prstGeom>
          <a:solidFill>
            <a:srgbClr val="FFE7D3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9640" y="2697480"/>
            <a:ext cx="274320" cy="274320"/>
          </a:xfrm>
          <a:prstGeom prst="ellipse">
            <a:avLst/>
          </a:prstGeom>
          <a:solidFill>
            <a:srgbClr val="FF9F5A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 Power Query, modeled with relationships, driven by 17 DAX measures.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32105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to a clean, connected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606040"/>
            <a:ext cx="640080" cy="640080"/>
          </a:xfrm>
          <a:prstGeom prst="ellipse">
            <a:avLst/>
          </a:prstGeom>
          <a:solidFill>
            <a:srgbClr val="9B8FD9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source workbook into Power Query for cleaning before it touched the model.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3240" y="25146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8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19272" y="22860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6532" y="2606040"/>
            <a:ext cx="640080" cy="640080"/>
          </a:xfrm>
          <a:prstGeom prst="ellipse">
            <a:avLst/>
          </a:prstGeom>
          <a:solidFill>
            <a:srgbClr val="4FC79B"/>
          </a:solidFill>
          <a:ln/>
        </p:spPr>
      </p:sp>
      <p:sp>
        <p:nvSpPr>
          <p:cNvPr id="12" name="Text 10"/>
          <p:cNvSpPr/>
          <p:nvPr/>
        </p:nvSpPr>
        <p:spPr>
          <a:xfrm>
            <a:off x="4256532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02152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388620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types, formatted text (e.g. computers_accessories → Computers Accessories), parsed dates.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33872" y="25146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8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9904" y="22860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7164" y="2606040"/>
            <a:ext cx="640080" cy="640080"/>
          </a:xfrm>
          <a:prstGeom prst="ellipse">
            <a:avLst/>
          </a:prstGeom>
          <a:solidFill>
            <a:srgbClr val="FF9F5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7164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72784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18504" y="388620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relational model on order_id, connecting orders, payments, and delivery data.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04504" y="25146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8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60536" y="22860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97796" y="2606040"/>
            <a:ext cx="640080" cy="640080"/>
          </a:xfrm>
          <a:prstGeom prst="ellipse">
            <a:avLst/>
          </a:prstGeom>
          <a:solidFill>
            <a:srgbClr val="FF6F91"/>
          </a:solidFill>
          <a:ln/>
        </p:spPr>
      </p:sp>
      <p:sp>
        <p:nvSpPr>
          <p:cNvPr id="24" name="Text 22"/>
          <p:cNvSpPr/>
          <p:nvPr/>
        </p:nvSpPr>
        <p:spPr>
          <a:xfrm>
            <a:off x="9797796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43416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89136" y="388620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17 DAX measures — revenue, customer, and delivery metrics — in a dedicated table.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DAX Measures, 3 Categories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39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 and chart on the dashboard is powered by one of these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574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9B8F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54580"/>
            <a:ext cx="3520440" cy="297180"/>
          </a:xfrm>
          <a:prstGeom prst="rect">
            <a:avLst/>
          </a:prstGeom>
          <a:solidFill>
            <a:srgbClr val="9B8FD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Revenue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Freight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0574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4FC79B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354580"/>
            <a:ext cx="3520440" cy="297180"/>
          </a:xfrm>
          <a:prstGeom prst="rect">
            <a:avLst/>
          </a:prstGeom>
          <a:solidFill>
            <a:srgbClr val="4FC79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Revenue &amp; VIP Revenue %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 (Days)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0574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9F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354580"/>
            <a:ext cx="3520440" cy="297180"/>
          </a:xfrm>
          <a:prstGeom prst="rect">
            <a:avLst/>
          </a:prstGeom>
          <a:solidFill>
            <a:srgbClr val="FF9F5A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57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Fulfillment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Orders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Delivery Rate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D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Anatomy — Filters &amp; KPIs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743200" cy="4892040"/>
          </a:xfrm>
          <a:prstGeom prst="roundRect">
            <a:avLst>
              <a:gd name="adj" fmla="val 2667"/>
            </a:avLst>
          </a:prstGeom>
          <a:solidFill>
            <a:srgbClr val="6F63B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Panel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range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Reset Filter button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F0B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on the page responds instantly to these selections.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Headline KPIs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4E9FE0"/>
          </a:solidFill>
          <a:ln/>
        </p:spPr>
      </p:sp>
      <p:sp>
        <p:nvSpPr>
          <p:cNvPr id="9" name="Text 7"/>
          <p:cNvSpPr/>
          <p:nvPr/>
        </p:nvSpPr>
        <p:spPr>
          <a:xfrm>
            <a:off x="3721608" y="2130552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21608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57800" y="19659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9B8FD9"/>
          </a:solidFill>
          <a:ln/>
        </p:spPr>
      </p:sp>
      <p:sp>
        <p:nvSpPr>
          <p:cNvPr id="12" name="Text 10"/>
          <p:cNvSpPr/>
          <p:nvPr/>
        </p:nvSpPr>
        <p:spPr>
          <a:xfrm>
            <a:off x="5367528" y="2130552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$256.8K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67528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19659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F9F5A"/>
          </a:solidFill>
          <a:ln/>
        </p:spPr>
      </p:sp>
      <p:sp>
        <p:nvSpPr>
          <p:cNvPr id="15" name="Text 13"/>
          <p:cNvSpPr/>
          <p:nvPr/>
        </p:nvSpPr>
        <p:spPr>
          <a:xfrm>
            <a:off x="7013448" y="2130552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$256.8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013448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19659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4FC79B"/>
          </a:solidFill>
          <a:ln/>
        </p:spPr>
      </p:sp>
      <p:sp>
        <p:nvSpPr>
          <p:cNvPr id="18" name="Text 16"/>
          <p:cNvSpPr/>
          <p:nvPr/>
        </p:nvSpPr>
        <p:spPr>
          <a:xfrm>
            <a:off x="8659368" y="2130552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659368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95560" y="196596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F6F91"/>
          </a:solidFill>
          <a:ln/>
        </p:spPr>
      </p:sp>
      <p:sp>
        <p:nvSpPr>
          <p:cNvPr id="21" name="Text 19"/>
          <p:cNvSpPr/>
          <p:nvPr/>
        </p:nvSpPr>
        <p:spPr>
          <a:xfrm>
            <a:off x="10305288" y="2130552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305288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metrics give an at-a-glance read on order volume, revenue, spend per order, customer satisfaction, and delivery reliability — the core health signals of the business.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11880" y="461772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F8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5166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uses a distinct pastel color for quick visual scanning — a deliberate departure from Power BI's default single-tone cards.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Walkthrough — Revenue 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8F6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47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· monthly, 2017–2018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month-over-month revenue to reveal growth patterns and seasonality across the two-year window.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0832" y="141732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8F6FC"/>
          </a:solidFill>
          <a:ln/>
        </p:spPr>
      </p:sp>
      <p:sp>
        <p:nvSpPr>
          <p:cNvPr id="9" name="Text 6"/>
          <p:cNvSpPr/>
          <p:nvPr/>
        </p:nvSpPr>
        <p:spPr>
          <a:xfrm>
            <a:off x="4599432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Customer Segment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99432" y="1947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· Regular / VIP / New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99432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drive the largest share of revenue (≈49%), ahead of New (≈45%) and VIP (≈6%).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93024" y="141732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8F6FC"/>
          </a:solidFill>
          <a:ln/>
        </p:spPr>
      </p:sp>
      <p:sp>
        <p:nvSpPr>
          <p:cNvPr id="14" name="Text 10"/>
          <p:cNvSpPr/>
          <p:nvPr/>
        </p:nvSpPr>
        <p:spPr>
          <a:xfrm>
            <a:off x="8421624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Categories by Revenue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421624" y="1947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top 6 categories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421624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product categories by revenue — Bed, Bath &amp; Table leads at roughly $23K.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94C2B3-235C-EA7C-40A1-E57BC558B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2569464"/>
            <a:ext cx="3108959" cy="23916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96129F-CC95-8D5F-102B-C903928CE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569464"/>
            <a:ext cx="3108960" cy="23916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9C6157-D284-3188-C6B3-8FFBAD16A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569464"/>
            <a:ext cx="3108960" cy="2391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Walkthrough — Customers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8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Customers by Revenue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208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63825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highest-value individual customers — a direct shortlist for retention or loyalty outreach.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8F6F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State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202082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· customer state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83680" y="63825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is heavily concentrated in one state (SP), dropping off sharply elsewhere — a geographic concentration risk and opportunity.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A19F4E-8F71-161B-F378-6BB817ADB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1" y="2660904"/>
            <a:ext cx="4800600" cy="3263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2469E9-8D2D-6011-F053-C4DE773C1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60905"/>
            <a:ext cx="4937760" cy="326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Walkthrough — Operations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892040"/>
          </a:xfrm>
          <a:prstGeom prst="roundRect">
            <a:avLst>
              <a:gd name="adj" fmla="val 1495"/>
            </a:avLst>
          </a:prstGeom>
          <a:solidFill>
            <a:srgbClr val="F8F6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Payment 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3055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payment method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43800" y="1417320"/>
            <a:ext cx="4069080" cy="4892040"/>
          </a:xfrm>
          <a:prstGeom prst="roundRect">
            <a:avLst>
              <a:gd name="adj" fmla="val 1798"/>
            </a:avLst>
          </a:prstGeom>
          <a:solidFill>
            <a:srgbClr val="6F63B8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18120" y="219456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the dominant payment method by a wide margin, ahead of boleto, voucher, and debit card.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18120" y="3794760"/>
            <a:ext cx="3520440" cy="0"/>
          </a:xfrm>
          <a:prstGeom prst="line">
            <a:avLst/>
          </a:prstGeom>
          <a:noFill/>
          <a:ln w="12700">
            <a:solidFill>
              <a:srgbClr val="5C4F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023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18120" y="4434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6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flow and fraud checks should be optimized around card payments first, with boleto as the key secondary path.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B38722-1BEF-08C3-3E8E-39749830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94" y="2597285"/>
            <a:ext cx="5496127" cy="34630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</a:rPr>
              <a:t>Why This Matters?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87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lets a decision-maker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91740"/>
            <a:ext cx="502920" cy="502920"/>
          </a:xfrm>
          <a:prstGeom prst="ellipse">
            <a:avLst/>
          </a:prstGeom>
          <a:solidFill>
            <a:srgbClr val="9B8F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917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350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growth &amp; seasonality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834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flags upswings and dips worth investigating.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491740"/>
            <a:ext cx="502920" cy="502920"/>
          </a:xfrm>
          <a:prstGeom prst="ellipse">
            <a:avLst/>
          </a:prstGeom>
          <a:solidFill>
            <a:srgbClr val="4FC79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917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350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right customers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834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top-customer views point straight to retention targets.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503420"/>
            <a:ext cx="502920" cy="502920"/>
          </a:xfrm>
          <a:prstGeom prst="ellipse">
            <a:avLst/>
          </a:prstGeom>
          <a:solidFill>
            <a:srgbClr val="FF9F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03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delivery risk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8463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and cancellation rate expose fulfillment problems early.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8F6FC"/>
          </a:solidFill>
          <a:ln/>
          <a:effectLst>
            <a:outerShdw blurRad="101600" dist="38100" dir="5400000" algn="bl" rotWithShape="0">
              <a:srgbClr val="3D355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503420"/>
            <a:ext cx="502920" cy="502920"/>
          </a:xfrm>
          <a:prstGeom prst="ellipse">
            <a:avLst/>
          </a:prstGeom>
          <a:solidFill>
            <a:srgbClr val="FF6F9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503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geography &amp; payment mix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8463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concentration and payment preferences inform logistics and checkout decisions.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89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18" y="3669527"/>
            <a:ext cx="3108960" cy="3108960"/>
          </a:xfrm>
          <a:prstGeom prst="ellipse">
            <a:avLst/>
          </a:prstGeom>
          <a:solidFill>
            <a:srgbClr val="D6BBEB"/>
          </a:solidFill>
          <a:ln/>
        </p:spPr>
      </p:sp>
      <p:sp>
        <p:nvSpPr>
          <p:cNvPr id="3" name="Shape 1"/>
          <p:cNvSpPr/>
          <p:nvPr/>
        </p:nvSpPr>
        <p:spPr>
          <a:xfrm>
            <a:off x="837001" y="4384151"/>
            <a:ext cx="1657594" cy="1691640"/>
          </a:xfrm>
          <a:prstGeom prst="ellipse">
            <a:avLst/>
          </a:prstGeom>
          <a:solidFill>
            <a:srgbClr val="8F78C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Query · Data Modeling · DAX · Power BI Desktop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719</Words>
  <Application>Microsoft Office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NISHA KUMARI</cp:lastModifiedBy>
  <cp:revision>2</cp:revision>
  <dcterms:created xsi:type="dcterms:W3CDTF">2026-08-02T08:01:17Z</dcterms:created>
  <dcterms:modified xsi:type="dcterms:W3CDTF">2026-08-20T09:42:58Z</dcterms:modified>
</cp:coreProperties>
</file>