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78CE"/>
    <a:srgbClr val="D6BBEB"/>
    <a:srgbClr val="A897D9"/>
    <a:srgbClr val="E2CF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234C8A6-D4BE-4D60-9C39-DC6780B1B0BE}" v="29" dt="2026-08-02T09:52:40.4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1" y="4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SHA KUMARI" userId="c74f1b4abf89f17a" providerId="LiveId" clId="{E53D1CF6-BF57-47F8-B561-3205F493CEAA}"/>
    <pc:docChg chg="custSel modSld">
      <pc:chgData name="NISHA KUMARI" userId="c74f1b4abf89f17a" providerId="LiveId" clId="{E53D1CF6-BF57-47F8-B561-3205F493CEAA}" dt="2026-08-02T09:55:08.226" v="127" actId="207"/>
      <pc:docMkLst>
        <pc:docMk/>
      </pc:docMkLst>
      <pc:sldChg chg="addSp modSp mod setBg">
        <pc:chgData name="NISHA KUMARI" userId="c74f1b4abf89f17a" providerId="LiveId" clId="{E53D1CF6-BF57-47F8-B561-3205F493CEAA}" dt="2026-08-02T09:55:08.226" v="127" actId="207"/>
        <pc:sldMkLst>
          <pc:docMk/>
          <pc:sldMk cId="0" sldId="256"/>
        </pc:sldMkLst>
        <pc:spChg chg="mod">
          <ac:chgData name="NISHA KUMARI" userId="c74f1b4abf89f17a" providerId="LiveId" clId="{E53D1CF6-BF57-47F8-B561-3205F493CEAA}" dt="2026-08-02T09:55:08.226" v="127" actId="207"/>
          <ac:spMkLst>
            <pc:docMk/>
            <pc:sldMk cId="0" sldId="256"/>
            <ac:spMk id="5" creationId="{00000000-0000-0000-0000-000000000000}"/>
          </ac:spMkLst>
        </pc:spChg>
        <pc:spChg chg="mod">
          <ac:chgData name="NISHA KUMARI" userId="c74f1b4abf89f17a" providerId="LiveId" clId="{E53D1CF6-BF57-47F8-B561-3205F493CEAA}" dt="2026-08-02T09:50:24.094" v="104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NISHA KUMARI" userId="c74f1b4abf89f17a" providerId="LiveId" clId="{E53D1CF6-BF57-47F8-B561-3205F493CEAA}" dt="2026-08-02T09:50:32.140" v="105" actId="1076"/>
          <ac:spMkLst>
            <pc:docMk/>
            <pc:sldMk cId="0" sldId="256"/>
            <ac:spMk id="7" creationId="{00000000-0000-0000-0000-000000000000}"/>
          </ac:spMkLst>
        </pc:spChg>
        <pc:spChg chg="mod">
          <ac:chgData name="NISHA KUMARI" userId="c74f1b4abf89f17a" providerId="LiveId" clId="{E53D1CF6-BF57-47F8-B561-3205F493CEAA}" dt="2026-08-02T09:48:24.030" v="94" actId="207"/>
          <ac:spMkLst>
            <pc:docMk/>
            <pc:sldMk cId="0" sldId="256"/>
            <ac:spMk id="8" creationId="{00000000-0000-0000-0000-000000000000}"/>
          </ac:spMkLst>
        </pc:spChg>
        <pc:spChg chg="mod">
          <ac:chgData name="NISHA KUMARI" userId="c74f1b4abf89f17a" providerId="LiveId" clId="{E53D1CF6-BF57-47F8-B561-3205F493CEAA}" dt="2026-08-02T09:49:43.369" v="99" actId="207"/>
          <ac:spMkLst>
            <pc:docMk/>
            <pc:sldMk cId="0" sldId="256"/>
            <ac:spMk id="10" creationId="{B293E08D-FA64-D6FD-BD1E-05087841F100}"/>
          </ac:spMkLst>
        </pc:spChg>
        <pc:spChg chg="mod">
          <ac:chgData name="NISHA KUMARI" userId="c74f1b4abf89f17a" providerId="LiveId" clId="{E53D1CF6-BF57-47F8-B561-3205F493CEAA}" dt="2026-08-02T09:50:51.017" v="106" actId="1076"/>
          <ac:spMkLst>
            <pc:docMk/>
            <pc:sldMk cId="0" sldId="256"/>
            <ac:spMk id="12" creationId="{1EDD578C-5C31-182A-41B6-23B06C23BC09}"/>
          </ac:spMkLst>
        </pc:spChg>
        <pc:picChg chg="add mod">
          <ac:chgData name="NISHA KUMARI" userId="c74f1b4abf89f17a" providerId="LiveId" clId="{E53D1CF6-BF57-47F8-B561-3205F493CEAA}" dt="2026-08-02T09:51:11.631" v="111" actId="1076"/>
          <ac:picMkLst>
            <pc:docMk/>
            <pc:sldMk cId="0" sldId="256"/>
            <ac:picMk id="2" creationId="{7CC3E50B-E8AF-674F-1384-62741B98390D}"/>
          </ac:picMkLst>
        </pc:picChg>
      </pc:sldChg>
      <pc:sldChg chg="modSp mod">
        <pc:chgData name="NISHA KUMARI" userId="c74f1b4abf89f17a" providerId="LiveId" clId="{E53D1CF6-BF57-47F8-B561-3205F493CEAA}" dt="2026-08-02T09:30:52.187" v="74" actId="1076"/>
        <pc:sldMkLst>
          <pc:docMk/>
          <pc:sldMk cId="0" sldId="257"/>
        </pc:sldMkLst>
        <pc:spChg chg="mod">
          <ac:chgData name="NISHA KUMARI" userId="c74f1b4abf89f17a" providerId="LiveId" clId="{E53D1CF6-BF57-47F8-B561-3205F493CEAA}" dt="2026-08-02T09:30:52.187" v="74" actId="1076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NISHA KUMARI" userId="c74f1b4abf89f17a" providerId="LiveId" clId="{E53D1CF6-BF57-47F8-B561-3205F493CEAA}" dt="2026-08-02T09:31:07.736" v="75" actId="1076"/>
        <pc:sldMkLst>
          <pc:docMk/>
          <pc:sldMk cId="0" sldId="258"/>
        </pc:sldMkLst>
        <pc:spChg chg="mod">
          <ac:chgData name="NISHA KUMARI" userId="c74f1b4abf89f17a" providerId="LiveId" clId="{E53D1CF6-BF57-47F8-B561-3205F493CEAA}" dt="2026-08-02T09:31:07.736" v="75" actId="1076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NISHA KUMARI" userId="c74f1b4abf89f17a" providerId="LiveId" clId="{E53D1CF6-BF57-47F8-B561-3205F493CEAA}" dt="2026-08-02T09:31:18.937" v="76" actId="1076"/>
        <pc:sldMkLst>
          <pc:docMk/>
          <pc:sldMk cId="0" sldId="259"/>
        </pc:sldMkLst>
        <pc:spChg chg="mod">
          <ac:chgData name="NISHA KUMARI" userId="c74f1b4abf89f17a" providerId="LiveId" clId="{E53D1CF6-BF57-47F8-B561-3205F493CEAA}" dt="2026-08-02T09:31:18.937" v="76" actId="1076"/>
          <ac:spMkLst>
            <pc:docMk/>
            <pc:sldMk cId="0" sldId="259"/>
            <ac:spMk id="3" creationId="{00000000-0000-0000-0000-000000000000}"/>
          </ac:spMkLst>
        </pc:spChg>
      </pc:sldChg>
      <pc:sldChg chg="addSp delSp modSp mod">
        <pc:chgData name="NISHA KUMARI" userId="c74f1b4abf89f17a" providerId="LiveId" clId="{E53D1CF6-BF57-47F8-B561-3205F493CEAA}" dt="2026-08-02T09:30:05.682" v="73" actId="14100"/>
        <pc:sldMkLst>
          <pc:docMk/>
          <pc:sldMk cId="0" sldId="261"/>
        </pc:sldMkLst>
        <pc:graphicFrameChg chg="del">
          <ac:chgData name="NISHA KUMARI" userId="c74f1b4abf89f17a" providerId="LiveId" clId="{E53D1CF6-BF57-47F8-B561-3205F493CEAA}" dt="2026-08-02T09:26:53.470" v="51" actId="478"/>
          <ac:graphicFrameMkLst>
            <pc:docMk/>
            <pc:sldMk cId="0" sldId="261"/>
            <ac:graphicFrameMk id="6" creationId="{00000000-0000-0000-0000-000000000000}"/>
          </ac:graphicFrameMkLst>
        </pc:graphicFrameChg>
        <pc:graphicFrameChg chg="del">
          <ac:chgData name="NISHA KUMARI" userId="c74f1b4abf89f17a" providerId="LiveId" clId="{E53D1CF6-BF57-47F8-B561-3205F493CEAA}" dt="2026-08-02T09:28:20.529" v="58" actId="478"/>
          <ac:graphicFrameMkLst>
            <pc:docMk/>
            <pc:sldMk cId="0" sldId="261"/>
            <ac:graphicFrameMk id="11" creationId="{00000000-0000-0000-0000-000000000000}"/>
          </ac:graphicFrameMkLst>
        </pc:graphicFrameChg>
        <pc:graphicFrameChg chg="del">
          <ac:chgData name="NISHA KUMARI" userId="c74f1b4abf89f17a" providerId="LiveId" clId="{E53D1CF6-BF57-47F8-B561-3205F493CEAA}" dt="2026-08-02T09:29:10.710" v="66" actId="478"/>
          <ac:graphicFrameMkLst>
            <pc:docMk/>
            <pc:sldMk cId="0" sldId="261"/>
            <ac:graphicFrameMk id="16" creationId="{00000000-0000-0000-0000-000000000000}"/>
          </ac:graphicFrameMkLst>
        </pc:graphicFrameChg>
        <pc:picChg chg="add mod">
          <ac:chgData name="NISHA KUMARI" userId="c74f1b4abf89f17a" providerId="LiveId" clId="{E53D1CF6-BF57-47F8-B561-3205F493CEAA}" dt="2026-08-02T09:30:05.682" v="73" actId="14100"/>
          <ac:picMkLst>
            <pc:docMk/>
            <pc:sldMk cId="0" sldId="261"/>
            <ac:picMk id="20" creationId="{7C94C2B3-235C-EA7C-40A1-E57BC558B0D7}"/>
          </ac:picMkLst>
        </pc:picChg>
        <pc:picChg chg="add mod">
          <ac:chgData name="NISHA KUMARI" userId="c74f1b4abf89f17a" providerId="LiveId" clId="{E53D1CF6-BF57-47F8-B561-3205F493CEAA}" dt="2026-08-02T09:29:05.066" v="65" actId="14100"/>
          <ac:picMkLst>
            <pc:docMk/>
            <pc:sldMk cId="0" sldId="261"/>
            <ac:picMk id="22" creationId="{BE96129F-CC95-8D5F-102B-C903928CE251}"/>
          </ac:picMkLst>
        </pc:picChg>
        <pc:picChg chg="add mod">
          <ac:chgData name="NISHA KUMARI" userId="c74f1b4abf89f17a" providerId="LiveId" clId="{E53D1CF6-BF57-47F8-B561-3205F493CEAA}" dt="2026-08-02T09:30:00.227" v="72" actId="14100"/>
          <ac:picMkLst>
            <pc:docMk/>
            <pc:sldMk cId="0" sldId="261"/>
            <ac:picMk id="24" creationId="{B69C6157-D284-3188-C6B3-8FFBAD16A7A8}"/>
          </ac:picMkLst>
        </pc:picChg>
      </pc:sldChg>
      <pc:sldChg chg="addSp delSp modSp mod">
        <pc:chgData name="NISHA KUMARI" userId="c74f1b4abf89f17a" providerId="LiveId" clId="{E53D1CF6-BF57-47F8-B561-3205F493CEAA}" dt="2026-08-02T09:26:36.008" v="50" actId="14100"/>
        <pc:sldMkLst>
          <pc:docMk/>
          <pc:sldMk cId="0" sldId="262"/>
        </pc:sldMkLst>
        <pc:graphicFrameChg chg="del">
          <ac:chgData name="NISHA KUMARI" userId="c74f1b4abf89f17a" providerId="LiveId" clId="{E53D1CF6-BF57-47F8-B561-3205F493CEAA}" dt="2026-08-02T09:24:45.682" v="38" actId="478"/>
          <ac:graphicFrameMkLst>
            <pc:docMk/>
            <pc:sldMk cId="0" sldId="262"/>
            <ac:graphicFrameMk id="6" creationId="{00000000-0000-0000-0000-000000000000}"/>
          </ac:graphicFrameMkLst>
        </pc:graphicFrameChg>
        <pc:graphicFrameChg chg="del mod">
          <ac:chgData name="NISHA KUMARI" userId="c74f1b4abf89f17a" providerId="LiveId" clId="{E53D1CF6-BF57-47F8-B561-3205F493CEAA}" dt="2026-08-02T09:23:51.110" v="30" actId="478"/>
          <ac:graphicFrameMkLst>
            <pc:docMk/>
            <pc:sldMk cId="0" sldId="262"/>
            <ac:graphicFrameMk id="11" creationId="{00000000-0000-0000-0000-000000000000}"/>
          </ac:graphicFrameMkLst>
        </pc:graphicFrameChg>
        <pc:picChg chg="add mod">
          <ac:chgData name="NISHA KUMARI" userId="c74f1b4abf89f17a" providerId="LiveId" clId="{E53D1CF6-BF57-47F8-B561-3205F493CEAA}" dt="2026-08-02T09:24:31.474" v="37" actId="14100"/>
          <ac:picMkLst>
            <pc:docMk/>
            <pc:sldMk cId="0" sldId="262"/>
            <ac:picMk id="15" creationId="{C5A19F4E-8F71-161B-F378-6BB817ADB594}"/>
          </ac:picMkLst>
        </pc:picChg>
        <pc:picChg chg="add del mod">
          <ac:chgData name="NISHA KUMARI" userId="c74f1b4abf89f17a" providerId="LiveId" clId="{E53D1CF6-BF57-47F8-B561-3205F493CEAA}" dt="2026-08-02T09:26:09.783" v="45" actId="478"/>
          <ac:picMkLst>
            <pc:docMk/>
            <pc:sldMk cId="0" sldId="262"/>
            <ac:picMk id="17" creationId="{AD929A2C-5CD7-A589-AB96-8AE2091B1C89}"/>
          </ac:picMkLst>
        </pc:picChg>
        <pc:picChg chg="add mod">
          <ac:chgData name="NISHA KUMARI" userId="c74f1b4abf89f17a" providerId="LiveId" clId="{E53D1CF6-BF57-47F8-B561-3205F493CEAA}" dt="2026-08-02T09:26:36.008" v="50" actId="14100"/>
          <ac:picMkLst>
            <pc:docMk/>
            <pc:sldMk cId="0" sldId="262"/>
            <ac:picMk id="19" creationId="{A62469E9-8D2D-6011-F053-C4DE773C1A78}"/>
          </ac:picMkLst>
        </pc:picChg>
      </pc:sldChg>
      <pc:sldChg chg="addSp delSp modSp mod">
        <pc:chgData name="NISHA KUMARI" userId="c74f1b4abf89f17a" providerId="LiveId" clId="{E53D1CF6-BF57-47F8-B561-3205F493CEAA}" dt="2026-08-02T09:23:27.040" v="29" actId="14100"/>
        <pc:sldMkLst>
          <pc:docMk/>
          <pc:sldMk cId="0" sldId="263"/>
        </pc:sldMkLst>
        <pc:graphicFrameChg chg="del mod">
          <ac:chgData name="NISHA KUMARI" userId="c74f1b4abf89f17a" providerId="LiveId" clId="{E53D1CF6-BF57-47F8-B561-3205F493CEAA}" dt="2026-08-02T09:22:53.703" v="20" actId="478"/>
          <ac:graphicFrameMkLst>
            <pc:docMk/>
            <pc:sldMk cId="0" sldId="263"/>
            <ac:graphicFrameMk id="6" creationId="{00000000-0000-0000-0000-000000000000}"/>
          </ac:graphicFrameMkLst>
        </pc:graphicFrameChg>
        <pc:picChg chg="add mod">
          <ac:chgData name="NISHA KUMARI" userId="c74f1b4abf89f17a" providerId="LiveId" clId="{E53D1CF6-BF57-47F8-B561-3205F493CEAA}" dt="2026-08-02T09:23:27.040" v="29" actId="14100"/>
          <ac:picMkLst>
            <pc:docMk/>
            <pc:sldMk cId="0" sldId="263"/>
            <ac:picMk id="15" creationId="{40B38722-1BEF-08C3-3E8E-3974983079BC}"/>
          </ac:picMkLst>
        </pc:picChg>
      </pc:sldChg>
      <pc:sldChg chg="modSp mod">
        <pc:chgData name="NISHA KUMARI" userId="c74f1b4abf89f17a" providerId="LiveId" clId="{E53D1CF6-BF57-47F8-B561-3205F493CEAA}" dt="2026-08-02T09:31:42.250" v="77" actId="1076"/>
        <pc:sldMkLst>
          <pc:docMk/>
          <pc:sldMk cId="0" sldId="264"/>
        </pc:sldMkLst>
        <pc:spChg chg="mod">
          <ac:chgData name="NISHA KUMARI" userId="c74f1b4abf89f17a" providerId="LiveId" clId="{E53D1CF6-BF57-47F8-B561-3205F493CEAA}" dt="2026-08-02T09:31:42.250" v="77" actId="1076"/>
          <ac:spMkLst>
            <pc:docMk/>
            <pc:sldMk cId="0" sldId="264"/>
            <ac:spMk id="3" creationId="{00000000-0000-0000-0000-000000000000}"/>
          </ac:spMkLst>
        </pc:spChg>
      </pc:sldChg>
      <pc:sldChg chg="addSp delSp modSp mod setBg">
        <pc:chgData name="NISHA KUMARI" userId="c74f1b4abf89f17a" providerId="LiveId" clId="{E53D1CF6-BF57-47F8-B561-3205F493CEAA}" dt="2026-08-02T09:54:08.656" v="125" actId="207"/>
        <pc:sldMkLst>
          <pc:docMk/>
          <pc:sldMk cId="0" sldId="265"/>
        </pc:sldMkLst>
        <pc:spChg chg="mod">
          <ac:chgData name="NISHA KUMARI" userId="c74f1b4abf89f17a" providerId="LiveId" clId="{E53D1CF6-BF57-47F8-B561-3205F493CEAA}" dt="2026-08-02T09:53:00.783" v="117" actId="207"/>
          <ac:spMkLst>
            <pc:docMk/>
            <pc:sldMk cId="0" sldId="265"/>
            <ac:spMk id="2" creationId="{00000000-0000-0000-0000-000000000000}"/>
          </ac:spMkLst>
        </pc:spChg>
        <pc:spChg chg="mod">
          <ac:chgData name="NISHA KUMARI" userId="c74f1b4abf89f17a" providerId="LiveId" clId="{E53D1CF6-BF57-47F8-B561-3205F493CEAA}" dt="2026-08-02T09:53:33.958" v="123" actId="1076"/>
          <ac:spMkLst>
            <pc:docMk/>
            <pc:sldMk cId="0" sldId="265"/>
            <ac:spMk id="3" creationId="{00000000-0000-0000-0000-000000000000}"/>
          </ac:spMkLst>
        </pc:spChg>
        <pc:spChg chg="mod">
          <ac:chgData name="NISHA KUMARI" userId="c74f1b4abf89f17a" providerId="LiveId" clId="{E53D1CF6-BF57-47F8-B561-3205F493CEAA}" dt="2026-08-02T09:53:51.519" v="124" actId="207"/>
          <ac:spMkLst>
            <pc:docMk/>
            <pc:sldMk cId="0" sldId="265"/>
            <ac:spMk id="4" creationId="{00000000-0000-0000-0000-000000000000}"/>
          </ac:spMkLst>
        </pc:spChg>
        <pc:spChg chg="mod">
          <ac:chgData name="NISHA KUMARI" userId="c74f1b4abf89f17a" providerId="LiveId" clId="{E53D1CF6-BF57-47F8-B561-3205F493CEAA}" dt="2026-08-02T09:54:08.656" v="125" actId="207"/>
          <ac:spMkLst>
            <pc:docMk/>
            <pc:sldMk cId="0" sldId="265"/>
            <ac:spMk id="5" creationId="{00000000-0000-0000-0000-000000000000}"/>
          </ac:spMkLst>
        </pc:spChg>
        <pc:graphicFrameChg chg="add del modGraphic">
          <ac:chgData name="NISHA KUMARI" userId="c74f1b4abf89f17a" providerId="LiveId" clId="{E53D1CF6-BF57-47F8-B561-3205F493CEAA}" dt="2026-08-02T09:52:35.533" v="114" actId="478"/>
          <ac:graphicFrameMkLst>
            <pc:docMk/>
            <pc:sldMk cId="0" sldId="265"/>
            <ac:graphicFrameMk id="8" creationId="{CC231615-E2AE-2D8F-8E98-16AEC74CB941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0362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89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819069" y="1895475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OLIST E-COMMERCE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96274" y="224028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Sales Performance Dashboard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773805"/>
            <a:ext cx="7132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 interactive Power BI walkthrough — revenue, customers, products, and delivery performance, 2017–2018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6126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Prepared as a project walkthrough  |  Power Query · Data Modeling · DAX · Visualization</a:t>
            </a:r>
            <a:endParaRPr lang="en-US" sz="1100" dirty="0"/>
          </a:p>
        </p:txBody>
      </p:sp>
      <p:sp>
        <p:nvSpPr>
          <p:cNvPr id="10" name="Shape 0">
            <a:extLst>
              <a:ext uri="{FF2B5EF4-FFF2-40B4-BE49-F238E27FC236}">
                <a16:creationId xmlns:a16="http://schemas.microsoft.com/office/drawing/2014/main" id="{B293E08D-FA64-D6FD-BD1E-05087841F100}"/>
              </a:ext>
            </a:extLst>
          </p:cNvPr>
          <p:cNvSpPr/>
          <p:nvPr/>
        </p:nvSpPr>
        <p:spPr>
          <a:xfrm>
            <a:off x="9106894" y="0"/>
            <a:ext cx="3108960" cy="3108960"/>
          </a:xfrm>
          <a:prstGeom prst="ellipse">
            <a:avLst/>
          </a:prstGeom>
          <a:solidFill>
            <a:srgbClr val="E2CFF1"/>
          </a:solidFill>
          <a:ln/>
        </p:spPr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1EDD578C-5C31-182A-41B6-23B06C23BC09}"/>
              </a:ext>
            </a:extLst>
          </p:cNvPr>
          <p:cNvSpPr/>
          <p:nvPr/>
        </p:nvSpPr>
        <p:spPr>
          <a:xfrm>
            <a:off x="9736554" y="688718"/>
            <a:ext cx="1849640" cy="1731523"/>
          </a:xfrm>
          <a:prstGeom prst="ellipse">
            <a:avLst/>
          </a:prstGeom>
          <a:solidFill>
            <a:srgbClr val="8F78CE"/>
          </a:solidFill>
          <a:ln/>
        </p:spPr>
      </p:sp>
      <p:pic>
        <p:nvPicPr>
          <p:cNvPr id="2" name="Image 4">
            <a:extLst>
              <a:ext uri="{FF2B5EF4-FFF2-40B4-BE49-F238E27FC236}">
                <a16:creationId xmlns:a16="http://schemas.microsoft.com/office/drawing/2014/main" id="{7CC3E50B-E8AF-674F-1384-62741B98390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260733" y="761048"/>
            <a:ext cx="2636196" cy="22688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single-page Power BI dashboard analyzing Olist's e-commerce performance — covering revenue, customers, products, and delivery — fully filterable in real time.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514600"/>
            <a:ext cx="640080" cy="640080"/>
          </a:xfrm>
          <a:prstGeom prst="ellipse">
            <a:avLst/>
          </a:prstGeom>
          <a:solidFill>
            <a:srgbClr val="E6E1F7"/>
          </a:solidFill>
          <a:ln/>
        </p:spPr>
      </p:sp>
      <p:sp>
        <p:nvSpPr>
          <p:cNvPr id="6" name="Shape 4"/>
          <p:cNvSpPr/>
          <p:nvPr/>
        </p:nvSpPr>
        <p:spPr>
          <a:xfrm>
            <a:off x="1051560" y="2697480"/>
            <a:ext cx="274320" cy="274320"/>
          </a:xfrm>
          <a:prstGeom prst="ellipse">
            <a:avLst/>
          </a:prstGeom>
          <a:solidFill>
            <a:srgbClr val="9B8FD9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it's for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27432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ops leaders who need a fast, no-query view of business health.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214884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514600"/>
            <a:ext cx="640080" cy="640080"/>
          </a:xfrm>
          <a:prstGeom prst="ellipse">
            <a:avLst/>
          </a:prstGeom>
          <a:solidFill>
            <a:srgbClr val="D7F3E8"/>
          </a:solidFill>
          <a:ln/>
        </p:spPr>
      </p:sp>
      <p:sp>
        <p:nvSpPr>
          <p:cNvPr id="11" name="Shape 9"/>
          <p:cNvSpPr/>
          <p:nvPr/>
        </p:nvSpPr>
        <p:spPr>
          <a:xfrm>
            <a:off x="4800600" y="2697480"/>
            <a:ext cx="274320" cy="274320"/>
          </a:xfrm>
          <a:prstGeom prst="ellipse">
            <a:avLst/>
          </a:prstGeom>
          <a:solidFill>
            <a:srgbClr val="4FC79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answers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17720" y="3931920"/>
            <a:ext cx="27432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revenue come from? Who are our best customers? Are deliveries on time?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214884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514600"/>
            <a:ext cx="640080" cy="640080"/>
          </a:xfrm>
          <a:prstGeom prst="ellipse">
            <a:avLst/>
          </a:prstGeom>
          <a:solidFill>
            <a:srgbClr val="FFE7D3"/>
          </a:solidFill>
          <a:ln/>
        </p:spPr>
      </p:sp>
      <p:sp>
        <p:nvSpPr>
          <p:cNvPr id="16" name="Shape 14"/>
          <p:cNvSpPr/>
          <p:nvPr/>
        </p:nvSpPr>
        <p:spPr>
          <a:xfrm>
            <a:off x="8549640" y="2697480"/>
            <a:ext cx="274320" cy="274320"/>
          </a:xfrm>
          <a:prstGeom prst="ellipse">
            <a:avLst/>
          </a:prstGeom>
          <a:solidFill>
            <a:srgbClr val="FF9F5A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33832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it's built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66760" y="3931920"/>
            <a:ext cx="27432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Cleaned in Power Query, modeled with relationships, driven by 17 DAX measures.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Modeling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32105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spreadsheet to a clean, connected model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606040"/>
            <a:ext cx="640080" cy="640080"/>
          </a:xfrm>
          <a:prstGeom prst="ellipse">
            <a:avLst/>
          </a:prstGeom>
          <a:solidFill>
            <a:srgbClr val="9B8FD9"/>
          </a:solidFill>
          <a:ln/>
        </p:spPr>
      </p:sp>
      <p:sp>
        <p:nvSpPr>
          <p:cNvPr id="6" name="Text 4"/>
          <p:cNvSpPr/>
          <p:nvPr/>
        </p:nvSpPr>
        <p:spPr>
          <a:xfrm>
            <a:off x="1485900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88620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the source workbook into Power Query for cleaning before it touched the model.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3240" y="251460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B8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319272" y="22860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56532" y="2606040"/>
            <a:ext cx="640080" cy="640080"/>
          </a:xfrm>
          <a:prstGeom prst="ellipse">
            <a:avLst/>
          </a:prstGeom>
          <a:solidFill>
            <a:srgbClr val="4FC79B"/>
          </a:solidFill>
          <a:ln/>
        </p:spPr>
      </p:sp>
      <p:sp>
        <p:nvSpPr>
          <p:cNvPr id="12" name="Text 10"/>
          <p:cNvSpPr/>
          <p:nvPr/>
        </p:nvSpPr>
        <p:spPr>
          <a:xfrm>
            <a:off x="4256532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02152" y="34290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47872" y="388620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data types, formatted text (e.g. computers_accessories → Computers Accessories), parsed dates.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833872" y="251460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B8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089904" y="22860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027164" y="2606040"/>
            <a:ext cx="640080" cy="640080"/>
          </a:xfrm>
          <a:prstGeom prst="ellipse">
            <a:avLst/>
          </a:prstGeom>
          <a:solidFill>
            <a:srgbClr val="FF9F5A"/>
          </a:solidFill>
          <a:ln/>
        </p:spPr>
      </p:sp>
      <p:sp>
        <p:nvSpPr>
          <p:cNvPr id="18" name="Text 16"/>
          <p:cNvSpPr/>
          <p:nvPr/>
        </p:nvSpPr>
        <p:spPr>
          <a:xfrm>
            <a:off x="7027164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272784" y="34290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18504" y="388620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relational model on order_id, connecting orders, payments, and delivery data.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04504" y="2514600"/>
            <a:ext cx="256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B8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8860536" y="22860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797796" y="2606040"/>
            <a:ext cx="640080" cy="640080"/>
          </a:xfrm>
          <a:prstGeom prst="ellipse">
            <a:avLst/>
          </a:prstGeom>
          <a:solidFill>
            <a:srgbClr val="FF6F91"/>
          </a:solidFill>
          <a:ln/>
        </p:spPr>
      </p:sp>
      <p:sp>
        <p:nvSpPr>
          <p:cNvPr id="24" name="Text 22"/>
          <p:cNvSpPr/>
          <p:nvPr/>
        </p:nvSpPr>
        <p:spPr>
          <a:xfrm>
            <a:off x="9797796" y="2606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043416" y="3429000"/>
            <a:ext cx="2148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89136" y="3886200"/>
            <a:ext cx="20574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5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Authored 17 DAX measures — revenue, customer, and delivery metrics — in a dedicated table.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 DAX Measures, 3 Categories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39" y="10515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KPI card and chart on the dashboard is powered by one of these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3520440" cy="3794760"/>
          </a:xfrm>
          <a:prstGeom prst="roundRect">
            <a:avLst>
              <a:gd name="adj" fmla="val 2078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05740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9B8FD9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354580"/>
            <a:ext cx="3520440" cy="297180"/>
          </a:xfrm>
          <a:prstGeom prst="rect">
            <a:avLst/>
          </a:prstGeom>
          <a:solidFill>
            <a:srgbClr val="9B8FD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0574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&amp; Revenue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880360"/>
            <a:ext cx="2971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Order Value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Freight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Quantity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057400"/>
            <a:ext cx="3520440" cy="3794760"/>
          </a:xfrm>
          <a:prstGeom prst="roundRect">
            <a:avLst>
              <a:gd name="adj" fmla="val 2078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205740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4FC79B"/>
          </a:solidFill>
          <a:ln/>
        </p:spPr>
      </p:sp>
      <p:sp>
        <p:nvSpPr>
          <p:cNvPr id="11" name="Shape 9"/>
          <p:cNvSpPr/>
          <p:nvPr/>
        </p:nvSpPr>
        <p:spPr>
          <a:xfrm>
            <a:off x="4389120" y="2354580"/>
            <a:ext cx="3520440" cy="297180"/>
          </a:xfrm>
          <a:prstGeom prst="rect">
            <a:avLst/>
          </a:prstGeom>
          <a:solidFill>
            <a:srgbClr val="4FC79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0574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2880360"/>
            <a:ext cx="2971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Customers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Revenue &amp; VIP Revenue %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Recency (Days)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Customers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Customer Rate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0" y="2057400"/>
            <a:ext cx="3520440" cy="3794760"/>
          </a:xfrm>
          <a:prstGeom prst="roundRect">
            <a:avLst>
              <a:gd name="adj" fmla="val 2078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0" y="205740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FF9F5A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2354580"/>
            <a:ext cx="3520440" cy="297180"/>
          </a:xfrm>
          <a:prstGeom prst="rect">
            <a:avLst/>
          </a:prstGeom>
          <a:solidFill>
            <a:srgbClr val="FF9F5A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0" y="2057400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Delivery &amp; Fulfillment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03920" y="2880360"/>
            <a:ext cx="29718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Delivery Days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 Orders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Time Delivery Rate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Review Score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D35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Rate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Anatomy — Filters &amp; KPIs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743200" cy="4892040"/>
          </a:xfrm>
          <a:prstGeom prst="roundRect">
            <a:avLst>
              <a:gd name="adj" fmla="val 2667"/>
            </a:avLst>
          </a:prstGeom>
          <a:solidFill>
            <a:srgbClr val="6F63B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4592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 Panel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2286000"/>
            <a:ext cx="21031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600"/>
              </a:spcAft>
              <a:buSzPct val="100000"/>
              <a:buChar char="▸"/>
            </a:pPr>
            <a:r>
              <a:rPr lang="en-US" sz="1300" dirty="0">
                <a:solidFill>
                  <a:srgbClr val="E6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Date range</a:t>
            </a:r>
            <a:endParaRPr lang="en-US" sz="1300" dirty="0"/>
          </a:p>
          <a:p>
            <a:pPr marL="203200" indent="-203200">
              <a:spcAft>
                <a:spcPts val="1600"/>
              </a:spcAft>
              <a:buSzPct val="100000"/>
              <a:buChar char="▸"/>
            </a:pPr>
            <a:r>
              <a:rPr lang="en-US" sz="1300" dirty="0">
                <a:solidFill>
                  <a:srgbClr val="E6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State</a:t>
            </a:r>
            <a:endParaRPr lang="en-US" sz="1300" dirty="0"/>
          </a:p>
          <a:p>
            <a:pPr marL="203200" indent="-203200">
              <a:spcAft>
                <a:spcPts val="1600"/>
              </a:spcAft>
              <a:buSzPct val="100000"/>
              <a:buChar char="▸"/>
            </a:pPr>
            <a:r>
              <a:rPr lang="en-US" sz="1300" dirty="0">
                <a:solidFill>
                  <a:srgbClr val="E6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City</a:t>
            </a:r>
            <a:endParaRPr lang="en-US" sz="1300" dirty="0"/>
          </a:p>
          <a:p>
            <a:pPr marL="203200" indent="-203200">
              <a:spcAft>
                <a:spcPts val="1600"/>
              </a:spcAft>
              <a:buSzPct val="100000"/>
              <a:buChar char="▸"/>
            </a:pPr>
            <a:r>
              <a:rPr lang="en-US" sz="1300" dirty="0">
                <a:solidFill>
                  <a:srgbClr val="E6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Type</a:t>
            </a:r>
            <a:endParaRPr lang="en-US" sz="1300" dirty="0"/>
          </a:p>
          <a:p>
            <a:pPr marL="203200" indent="-203200">
              <a:spcAft>
                <a:spcPts val="1600"/>
              </a:spcAft>
              <a:buSzPct val="100000"/>
              <a:buChar char="▸"/>
            </a:pPr>
            <a:r>
              <a:rPr lang="en-US" sz="1300" dirty="0">
                <a:solidFill>
                  <a:srgbClr val="E6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Status</a:t>
            </a:r>
            <a:endParaRPr lang="en-US" sz="1300" dirty="0"/>
          </a:p>
          <a:p>
            <a:pPr marL="203200" indent="-203200">
              <a:spcAft>
                <a:spcPts val="1600"/>
              </a:spcAft>
              <a:buSzPct val="100000"/>
              <a:buChar char="▸"/>
            </a:pPr>
            <a:r>
              <a:rPr lang="en-US" sz="1300" dirty="0">
                <a:solidFill>
                  <a:srgbClr val="E6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Reset Filter button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52120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F0B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visual on the page responds instantly to these selections.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611880" y="1371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Headline KPIs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196596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4E9FE0"/>
          </a:solidFill>
          <a:ln/>
        </p:spPr>
      </p:sp>
      <p:sp>
        <p:nvSpPr>
          <p:cNvPr id="9" name="Text 7"/>
          <p:cNvSpPr/>
          <p:nvPr/>
        </p:nvSpPr>
        <p:spPr>
          <a:xfrm>
            <a:off x="3721608" y="2130552"/>
            <a:ext cx="12618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3721608" y="2880360"/>
            <a:ext cx="12618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257800" y="196596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9B8FD9"/>
          </a:solidFill>
          <a:ln/>
        </p:spPr>
      </p:sp>
      <p:sp>
        <p:nvSpPr>
          <p:cNvPr id="12" name="Text 10"/>
          <p:cNvSpPr/>
          <p:nvPr/>
        </p:nvSpPr>
        <p:spPr>
          <a:xfrm>
            <a:off x="5367528" y="2130552"/>
            <a:ext cx="12618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$256.8K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367528" y="2880360"/>
            <a:ext cx="12618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03720" y="196596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F9F5A"/>
          </a:solidFill>
          <a:ln/>
        </p:spPr>
      </p:sp>
      <p:sp>
        <p:nvSpPr>
          <p:cNvPr id="15" name="Text 13"/>
          <p:cNvSpPr/>
          <p:nvPr/>
        </p:nvSpPr>
        <p:spPr>
          <a:xfrm>
            <a:off x="7013448" y="2130552"/>
            <a:ext cx="12618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$256.8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013448" y="2880360"/>
            <a:ext cx="12618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Order Value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549640" y="196596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4FC79B"/>
          </a:solidFill>
          <a:ln/>
        </p:spPr>
      </p:sp>
      <p:sp>
        <p:nvSpPr>
          <p:cNvPr id="18" name="Text 16"/>
          <p:cNvSpPr/>
          <p:nvPr/>
        </p:nvSpPr>
        <p:spPr>
          <a:xfrm>
            <a:off x="8659368" y="2130552"/>
            <a:ext cx="12618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3.65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659368" y="2880360"/>
            <a:ext cx="12618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Review Score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195560" y="1965960"/>
            <a:ext cx="1481328" cy="1371600"/>
          </a:xfrm>
          <a:prstGeom prst="roundRect">
            <a:avLst>
              <a:gd name="adj" fmla="val 5333"/>
            </a:avLst>
          </a:prstGeom>
          <a:solidFill>
            <a:srgbClr val="FF6F91"/>
          </a:solidFill>
          <a:ln/>
        </p:spPr>
      </p:sp>
      <p:sp>
        <p:nvSpPr>
          <p:cNvPr id="21" name="Text 19"/>
          <p:cNvSpPr/>
          <p:nvPr/>
        </p:nvSpPr>
        <p:spPr>
          <a:xfrm>
            <a:off x="10305288" y="2130552"/>
            <a:ext cx="126187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61%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0305288" y="2880360"/>
            <a:ext cx="126187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Delivery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611880" y="3657600"/>
            <a:ext cx="78638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five metrics give an at-a-glance read on order volume, revenue, spend per order, customer satisfaction, and delivery reliability — the core health signals of the business.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11880" y="461772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8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3886200" y="4800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note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86200" y="516636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card uses a distinct pastel color for quick visual scanning — a deliberate departure from Power BI's default single-tone cards.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Walkthrough — Revenue Story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66160" cy="4892040"/>
          </a:xfrm>
          <a:prstGeom prst="roundRect">
            <a:avLst>
              <a:gd name="adj" fmla="val 2051"/>
            </a:avLst>
          </a:prstGeom>
          <a:solidFill>
            <a:srgbClr val="F8F6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00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Trend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19476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· monthly, 2017–2018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77240" y="53035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month-over-month revenue to reveal growth patterns and seasonality across the two-year window.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70832" y="1417320"/>
            <a:ext cx="3566160" cy="4892040"/>
          </a:xfrm>
          <a:prstGeom prst="roundRect">
            <a:avLst>
              <a:gd name="adj" fmla="val 2051"/>
            </a:avLst>
          </a:prstGeom>
          <a:solidFill>
            <a:srgbClr val="F8F6FC"/>
          </a:solidFill>
          <a:ln/>
        </p:spPr>
      </p:sp>
      <p:sp>
        <p:nvSpPr>
          <p:cNvPr id="9" name="Text 6"/>
          <p:cNvSpPr/>
          <p:nvPr/>
        </p:nvSpPr>
        <p:spPr>
          <a:xfrm>
            <a:off x="4599432" y="1600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by Customer Segment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99432" y="19476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· Regular / VIP / New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99432" y="53035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customers drive the largest share of revenue (≈49%), ahead of New (≈45%) and VIP (≈6%).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93024" y="1417320"/>
            <a:ext cx="3566160" cy="4892040"/>
          </a:xfrm>
          <a:prstGeom prst="roundRect">
            <a:avLst>
              <a:gd name="adj" fmla="val 2051"/>
            </a:avLst>
          </a:prstGeom>
          <a:solidFill>
            <a:srgbClr val="F8F6FC"/>
          </a:solidFill>
          <a:ln/>
        </p:spPr>
      </p:sp>
      <p:sp>
        <p:nvSpPr>
          <p:cNvPr id="14" name="Text 10"/>
          <p:cNvSpPr/>
          <p:nvPr/>
        </p:nvSpPr>
        <p:spPr>
          <a:xfrm>
            <a:off x="8421624" y="16002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Categories by Revenue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421624" y="194767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· top 6 categories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8421624" y="53035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product categories by revenue — Bed, Bath &amp; Table leads at roughly $23K.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C94C2B3-235C-EA7C-40A1-E57BC558B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39" y="2569464"/>
            <a:ext cx="3108959" cy="239164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E96129F-CC95-8D5F-102B-C903928CE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432" y="2569464"/>
            <a:ext cx="3108960" cy="239164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69C6157-D284-3188-C6B3-8FFBAD16A7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1624" y="2569464"/>
            <a:ext cx="3108960" cy="23916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Walkthrough — Customers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F8F6F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45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Customers by Revenue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020824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Horizontal bar chart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22960" y="638251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the highest-value individual customers — a direct shortlist for retention or loyalty outreach.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309360" y="1417320"/>
            <a:ext cx="5349240" cy="4892040"/>
          </a:xfrm>
          <a:prstGeom prst="roundRect">
            <a:avLst>
              <a:gd name="adj" fmla="val 1495"/>
            </a:avLst>
          </a:prstGeom>
          <a:solidFill>
            <a:srgbClr val="F8F6FC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0" y="16459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Orders by State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583680" y="202082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chart · customer state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6583680" y="6382512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volume is heavily concentrated in one state (SP), dropping off sharply elsewhere — a geographic concentration risk and opportunity.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5A19F4E-8F71-161B-F378-6BB817ADB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1" y="2660904"/>
            <a:ext cx="4800600" cy="326324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62469E9-8D2D-6011-F053-C4DE773C1A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660905"/>
            <a:ext cx="4937760" cy="3263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Chart Walkthrough — Operations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766560" cy="4892040"/>
          </a:xfrm>
          <a:prstGeom prst="roundRect">
            <a:avLst>
              <a:gd name="adj" fmla="val 1495"/>
            </a:avLst>
          </a:prstGeom>
          <a:solidFill>
            <a:srgbClr val="F8F6FC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91640"/>
            <a:ext cx="6126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Orders by Payment Type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68680" y="2130552"/>
            <a:ext cx="6126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 chart · payment method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543800" y="1417320"/>
            <a:ext cx="4069080" cy="4892040"/>
          </a:xfrm>
          <a:prstGeom prst="roundRect">
            <a:avLst>
              <a:gd name="adj" fmla="val 1798"/>
            </a:avLst>
          </a:prstGeom>
          <a:solidFill>
            <a:srgbClr val="6F63B8"/>
          </a:solidFill>
          <a:ln/>
        </p:spPr>
      </p:sp>
      <p:sp>
        <p:nvSpPr>
          <p:cNvPr id="8" name="Text 5"/>
          <p:cNvSpPr/>
          <p:nvPr/>
        </p:nvSpPr>
        <p:spPr>
          <a:xfrm>
            <a:off x="7818120" y="169164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shows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18120" y="2194560"/>
            <a:ext cx="3520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E6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card is the dominant payment method by a wide margin, ahead of boleto, voucher, and debit card.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818120" y="3794760"/>
            <a:ext cx="3520440" cy="0"/>
          </a:xfrm>
          <a:prstGeom prst="line">
            <a:avLst/>
          </a:prstGeom>
          <a:noFill/>
          <a:ln w="12700">
            <a:solidFill>
              <a:srgbClr val="5C4F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40233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0BB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18120" y="4434840"/>
            <a:ext cx="35204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E6E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flow and fraud checks should be optimized around card payments first, with boleto as the key secondary path.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0B38722-1BEF-08C3-3E8E-3974983079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494" y="2597285"/>
            <a:ext cx="5496127" cy="346304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What?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287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dashboard lets a decision-maker do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491740"/>
            <a:ext cx="502920" cy="502920"/>
          </a:xfrm>
          <a:prstGeom prst="ellipse">
            <a:avLst/>
          </a:prstGeom>
          <a:solidFill>
            <a:srgbClr val="9B8FD9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4917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08760" y="235000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Spot growth &amp; seasonality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08760" y="2834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revenue trend flags upswings and dips worth investigating.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214884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2491740"/>
            <a:ext cx="502920" cy="502920"/>
          </a:xfrm>
          <a:prstGeom prst="ellipse">
            <a:avLst/>
          </a:prstGeom>
          <a:solidFill>
            <a:srgbClr val="4FC79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4917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86600" y="235000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Prioritize the right customers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86600" y="2834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and top-customer views point straight to retention targets.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2960" y="4503420"/>
            <a:ext cx="502920" cy="502920"/>
          </a:xfrm>
          <a:prstGeom prst="ellipse">
            <a:avLst/>
          </a:prstGeom>
          <a:solidFill>
            <a:srgbClr val="FF9F5A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5034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08760" y="436168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delivery risk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08760" y="484632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rate and cancellation rate expose fulfillment problems early.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26480" y="4160520"/>
            <a:ext cx="5257800" cy="1691640"/>
          </a:xfrm>
          <a:prstGeom prst="roundRect">
            <a:avLst>
              <a:gd name="adj" fmla="val 4324"/>
            </a:avLst>
          </a:prstGeom>
          <a:solidFill>
            <a:srgbClr val="F8F6FC"/>
          </a:solidFill>
          <a:ln/>
          <a:effectLst>
            <a:outerShdw blurRad="101600" dist="38100" dir="5400000" algn="bl" rotWithShape="0">
              <a:srgbClr val="3D3556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0800" y="4503420"/>
            <a:ext cx="502920" cy="502920"/>
          </a:xfrm>
          <a:prstGeom prst="ellipse">
            <a:avLst/>
          </a:prstGeom>
          <a:solidFill>
            <a:srgbClr val="FF6F91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45034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86600" y="436168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D35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 on geography &amp; payment mix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86600" y="484632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concentration and payment preferences inform logistics and checkout decisions.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71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A89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49040"/>
            <a:ext cx="3108960" cy="3108960"/>
          </a:xfrm>
          <a:prstGeom prst="ellipse">
            <a:avLst/>
          </a:prstGeom>
          <a:solidFill>
            <a:srgbClr val="D6BBEB"/>
          </a:solidFill>
          <a:ln/>
        </p:spPr>
      </p:sp>
      <p:sp>
        <p:nvSpPr>
          <p:cNvPr id="3" name="Shape 1"/>
          <p:cNvSpPr/>
          <p:nvPr/>
        </p:nvSpPr>
        <p:spPr>
          <a:xfrm>
            <a:off x="725683" y="4457700"/>
            <a:ext cx="1657594" cy="1691640"/>
          </a:xfrm>
          <a:prstGeom prst="ellipse">
            <a:avLst/>
          </a:prstGeom>
          <a:solidFill>
            <a:srgbClr val="8F78CE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2377440"/>
            <a:ext cx="12191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0" y="333756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7A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Power Query · Data Modeling · DAX · Power BI Desktop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718</Words>
  <Application>Microsoft Office PowerPoint</Application>
  <PresentationFormat>Widescreen</PresentationFormat>
  <Paragraphs>131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NISHA KUMARI</cp:lastModifiedBy>
  <cp:revision>2</cp:revision>
  <dcterms:created xsi:type="dcterms:W3CDTF">2026-08-02T08:01:17Z</dcterms:created>
  <dcterms:modified xsi:type="dcterms:W3CDTF">2026-08-02T09:55:19Z</dcterms:modified>
</cp:coreProperties>
</file>